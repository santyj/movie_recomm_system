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Raleway" panose="020F0502020204030204" pitchFamily="2" charset="0"/>
      <p:regular r:id="rId15"/>
    </p:embeddedFont>
    <p:embeddedFont>
      <p:font typeface="Raleway Light" panose="020F0502020204030204" pitchFamily="2" charset="0"/>
      <p:regular r:id="rId16"/>
    </p:embeddedFont>
    <p:embeddedFont>
      <p:font typeface="Roboto" panose="020F0502020204030204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347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svg"/><Relationship Id="rId5" Type="http://schemas.openxmlformats.org/officeDocument/2006/relationships/image" Target="../media/image10.sv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219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Matrix Factorization &amp; Latent Embeddings via SVD for Recommendation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0476"/>
            <a:ext cx="63681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 550: Massive Data Mining — Semester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049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Santhosh Janakiraman (sj1230) · Mohammed Faisal Khan (mk2480)· Jacob Sze (jms1200)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Rutgers University, New Brunswick,NJ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493544"/>
            <a:ext cx="1985843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9878" y="5561528"/>
            <a:ext cx="171366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92981" y="5485924"/>
            <a:ext cx="247292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36689" y="5561528"/>
            <a:ext cx="21855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RECOMMENDER SYSTEMS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79256" y="5485924"/>
            <a:ext cx="62960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22965" y="5561528"/>
            <a:ext cx="3421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22206" y="5485924"/>
            <a:ext cx="1579364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65915" y="5561528"/>
            <a:ext cx="129194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MOVIELENS 1M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583055"/>
            <a:ext cx="98483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We Built &amp; How We Evaluated It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630436" y="2631996"/>
            <a:ext cx="6571417" cy="4459486"/>
          </a:xfrm>
          <a:prstGeom prst="roundRect">
            <a:avLst>
              <a:gd name="adj" fmla="val 3662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7250" y="28588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3439954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two recommender systems from scratch using only </a:t>
            </a: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NumPy/SciPy primitives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 out-of-the-box monolithic recommender libraries.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4732734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Dataset: </a:t>
            </a: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MovieLens 1M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100,000+ ratings across 610 users and ~9,700 movies.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5662613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Evaluation: strict </a:t>
            </a: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80/20 per-user holdout split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prevent data leakage — not a random global split.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8588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 Question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43995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we prove that SVD's latent structure is simultaneously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powerful and exploitable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?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99521" y="4420910"/>
            <a:ext cx="6244709" cy="2415421"/>
          </a:xfrm>
          <a:prstGeom prst="roundRect">
            <a:avLst>
              <a:gd name="adj" fmla="val 394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4765000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36637" y="4704398"/>
            <a:ext cx="528077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accuracy: addressed three Trustworthiness rubric options — </a:t>
            </a: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A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(Transparency), </a:t>
            </a: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C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(Controllability), and </a:t>
            </a: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E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(Robustness) — demonstrated via an interactive Streamlit dashboard.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22089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90568" y="823674"/>
            <a:ext cx="11249144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Sparsity &amp; Popularity Bias: Why Naive Recommendation Systems Break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90568" y="4051102"/>
            <a:ext cx="542567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user-item rating matrix is </a:t>
            </a:r>
            <a:r>
              <a:rPr lang="en-US" sz="12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overwhelmingly empty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most users have rated only a tiny fraction of ~9,700 available movies. This creates a cascade of failures that makes personalized discovery nearly impossible.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90568" y="4855131"/>
            <a:ext cx="5425678" cy="792837"/>
          </a:xfrm>
          <a:prstGeom prst="roundRect">
            <a:avLst>
              <a:gd name="adj" fmla="val 8637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565" y="5083850"/>
            <a:ext cx="203716" cy="162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20278" y="5013008"/>
            <a:ext cx="4732973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the </a:t>
            </a:r>
            <a:r>
              <a:rPr lang="en-US" sz="12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Cold Start + Popularity Bias trap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it demands a fundamentally different mathematical approach.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535" y="2149912"/>
            <a:ext cx="5425678" cy="542567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1535" y="2149912"/>
            <a:ext cx="5425678" cy="54256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6579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1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9025" y="1094184"/>
            <a:ext cx="130923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Memory-Based Collaborative Filtering — The Baseline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69025" y="299942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69025" y="3555444"/>
            <a:ext cx="6278166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unrated movie, compute the </a:t>
            </a: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Pearson-Cosine similarity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between the target user and every user who has rated it. Prediction is a weighted average of neighbor ratings: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9025" y="4833223"/>
            <a:ext cx="6278166" cy="915114"/>
          </a:xfrm>
          <a:prstGeom prst="roundRect">
            <a:avLst>
              <a:gd name="adj" fmla="val 10085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" y="5159335"/>
            <a:ext cx="274558" cy="219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2923" y="5100876"/>
            <a:ext cx="5344597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sim(u,v) = (r_u · r_v) / (||r_u|| ||r_v||)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69025" y="5987772"/>
            <a:ext cx="6278166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Conceptually simple and interpretable, but </a:t>
            </a: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structurally fragile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under data sparsity. When no valid neighbors exist, the system has no fallback — it collapses into useless popularity-based averages.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90830" y="3026093"/>
            <a:ext cx="3032641" cy="2863096"/>
          </a:xfrm>
          <a:prstGeom prst="roundRect">
            <a:avLst>
              <a:gd name="adj" fmla="val 32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18120" y="3253383"/>
            <a:ext cx="257806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MAE Score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818120" y="3809405"/>
            <a:ext cx="2578060" cy="947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50"/>
              </a:lnSpc>
              <a:buNone/>
            </a:pPr>
            <a:r>
              <a:rPr lang="en-US" sz="5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0.8173</a:t>
            </a:r>
            <a:endParaRPr lang="en-US" sz="5950" dirty="0"/>
          </a:p>
        </p:txBody>
      </p:sp>
      <p:sp>
        <p:nvSpPr>
          <p:cNvPr id="13" name="Text 10"/>
          <p:cNvSpPr/>
          <p:nvPr/>
        </p:nvSpPr>
        <p:spPr>
          <a:xfrm>
            <a:off x="7818120" y="4969669"/>
            <a:ext cx="257806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Above the critical single-star variation threshold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0836235" y="3026093"/>
            <a:ext cx="3032760" cy="2863096"/>
          </a:xfrm>
          <a:prstGeom prst="roundRect">
            <a:avLst>
              <a:gd name="adj" fmla="val 32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063526" y="3253383"/>
            <a:ext cx="257817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NDCG@10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11063526" y="3809405"/>
            <a:ext cx="2578179" cy="947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50"/>
              </a:lnSpc>
              <a:buNone/>
            </a:pPr>
            <a:r>
              <a:rPr lang="en-US" sz="5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0.0047</a:t>
            </a:r>
            <a:endParaRPr lang="en-US" sz="5950" dirty="0"/>
          </a:p>
        </p:txBody>
      </p:sp>
      <p:sp>
        <p:nvSpPr>
          <p:cNvPr id="17" name="Text 14"/>
          <p:cNvSpPr/>
          <p:nvPr/>
        </p:nvSpPr>
        <p:spPr>
          <a:xfrm>
            <a:off x="11063526" y="4969669"/>
            <a:ext cx="2578179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Near-total failure on personalized ranking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50792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2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2179677" y="779502"/>
            <a:ext cx="10271046" cy="930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Model-Based SVD — Compressing the Matrix into Latent Dimensions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487" y="1856303"/>
            <a:ext cx="7987308" cy="365545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4893" y="2768973"/>
            <a:ext cx="513537" cy="5135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37363" y="4499272"/>
            <a:ext cx="1499529" cy="57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Dense Predictions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4865" y="2769936"/>
            <a:ext cx="513537" cy="5135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47547" y="4499272"/>
            <a:ext cx="1499529" cy="57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Global Mean</a:t>
            </a:r>
            <a:endParaRPr lang="en-US" sz="1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5320" y="2769936"/>
            <a:ext cx="513537" cy="51353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668001" y="4499272"/>
            <a:ext cx="1499528" cy="57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Decompose k=50</a:t>
            </a:r>
            <a:endParaRPr lang="en-US" sz="1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45504" y="2769936"/>
            <a:ext cx="513537" cy="51353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747373" y="4643704"/>
            <a:ext cx="1499528" cy="28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Sparse Input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2179677" y="5621655"/>
            <a:ext cx="10271046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 decomposes the sparse matrix into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 = 64 dense orthogonal latent dimensions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encoding hidden patterns inside the dataset. By operating in latent space rather than raw rating space, SVD naturally escapes the popularity trap and surfaces obscure, long-tail content — acting as an AI "smoothing" function that infers relationships even for movies with near-zero interaction history.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2179677" y="6397466"/>
            <a:ext cx="3342322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0.7262</a:t>
            </a:r>
            <a:endParaRPr lang="en-US" sz="3850" dirty="0"/>
          </a:p>
        </p:txBody>
      </p:sp>
      <p:sp>
        <p:nvSpPr>
          <p:cNvPr id="15" name="Text 8"/>
          <p:cNvSpPr/>
          <p:nvPr/>
        </p:nvSpPr>
        <p:spPr>
          <a:xfrm>
            <a:off x="2920484" y="703623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MAE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2179677" y="7327344"/>
            <a:ext cx="334232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Below the critical single-star threshold — dramatic improvement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5644039" y="6397466"/>
            <a:ext cx="3342322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0.4643</a:t>
            </a:r>
            <a:endParaRPr lang="en-US" sz="3850" dirty="0"/>
          </a:p>
        </p:txBody>
      </p:sp>
      <p:sp>
        <p:nvSpPr>
          <p:cNvPr id="18" name="Text 11"/>
          <p:cNvSpPr/>
          <p:nvPr/>
        </p:nvSpPr>
        <p:spPr>
          <a:xfrm>
            <a:off x="6384846" y="703623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NDCG@10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5644039" y="7327344"/>
            <a:ext cx="334232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ranking quality — a transformational leap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9108400" y="6397466"/>
            <a:ext cx="3342322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</a:t>
            </a:r>
            <a:endParaRPr lang="en-US" sz="3850" dirty="0"/>
          </a:p>
        </p:txBody>
      </p:sp>
      <p:sp>
        <p:nvSpPr>
          <p:cNvPr id="21" name="Text 14"/>
          <p:cNvSpPr/>
          <p:nvPr/>
        </p:nvSpPr>
        <p:spPr>
          <a:xfrm>
            <a:off x="9849207" y="703623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Latent Dims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9108400" y="7327344"/>
            <a:ext cx="334232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Dense orthogonal dimensions encoding taste &amp; movie characteristics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6722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9376" y="1062752"/>
            <a:ext cx="12735401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Rating Prediction Accuracy: MAE &amp; RMSE Comparison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76" y="2193965"/>
            <a:ext cx="7029688" cy="43935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58175" y="217062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58175" y="2677954"/>
            <a:ext cx="5660350" cy="333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SVD 0.7262 vs. Baseline 0.8173 — SVD drops below the critical single-star variation threshold; the Baseline does not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RMSE: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SVD 0.9376 vs. Baseline 1.0537 — SVD stays under 1.0, meaning worst-case errors are meaningfully smaller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Baseline's high MAE directly reflects the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Cold Start collapse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when neighbors don't exist, every prediction falls back to a useless global average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SVD's 50-dimensional latent compression acts as a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noise filter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8175" y="6217801"/>
            <a:ext cx="5660350" cy="1134904"/>
          </a:xfrm>
          <a:prstGeom prst="roundRect">
            <a:avLst>
              <a:gd name="adj" fmla="val 760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77" y="6515695"/>
            <a:ext cx="256937" cy="2055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26116" y="6455331"/>
            <a:ext cx="4786908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is better on both axes — 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 wins on every rating accuracy metric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063" y="429339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2791063" y="664488"/>
            <a:ext cx="7921228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Top-10 Ranking Quality: Precision, Recall, F1 &amp; NDCG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063" y="1187887"/>
            <a:ext cx="9048274" cy="6030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91063" y="7303770"/>
            <a:ext cx="9048274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Baseline bars are nearly invisible across all four metrics — this is a </a:t>
            </a: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failure of Memory-Based CF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a marginal gap. SVD's Top-10 lists contain ~155x more relevant movies per recommendation served (Precision@10), and NDCG@10 shows a </a:t>
            </a: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9,757% improvement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NDCG heavily penalizes any system that fails to rank the most relevant items at the very top. The F1-Measure confirms SVD's gains are balanced, not inflated by one metric alone.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42211"/>
            <a:ext cx="2753797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Trustworthiness — Option A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323737" y="866537"/>
            <a:ext cx="11876603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Transparency &amp; Explainability: Cracking Open the Black Box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23737" y="237148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23737" y="2775585"/>
            <a:ext cx="577953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64-dimensional latent vectors are </a:t>
            </a:r>
            <a:r>
              <a:rPr lang="en-US" sz="13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completely uninterpretable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SVD is a mathematical black box that users fundamentally distrust. There is no intuitive way to explain why a particular movie was recommended from raw latent coordinates alone.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23737" y="3889534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3737" y="4293632"/>
            <a:ext cx="577953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3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Surrogate Explanation architecture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SVD handles prediction; a separate Content-Based layer generates the human-readable justification. The surrogate automatically identifies genre overlaps between the SVD recommendation and the user's historical favorites.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23737" y="5424249"/>
            <a:ext cx="5779532" cy="873204"/>
          </a:xfrm>
          <a:prstGeom prst="roundRect">
            <a:avLst>
              <a:gd name="adj" fmla="val 835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330" y="5664518"/>
            <a:ext cx="217051" cy="1735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87974" y="5600462"/>
            <a:ext cx="504170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output: </a:t>
            </a:r>
            <a:r>
              <a:rPr lang="en-US" sz="13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"Because you enjoyed [Movie X], our AI found strong thematic overlaps here."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23737" y="6446996"/>
            <a:ext cx="577953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 and explanation are </a:t>
            </a:r>
            <a:r>
              <a:rPr lang="en-US" sz="13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decoupled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SVD engine is never compromised for the sake of interpretability.</a:t>
            </a:r>
            <a:endParaRPr lang="en-US" sz="13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513" y="1758196"/>
            <a:ext cx="5779532" cy="5779532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513" y="1758196"/>
            <a:ext cx="5779532" cy="57795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7719"/>
            <a:ext cx="36087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Trustworthiness — Option 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42774"/>
            <a:ext cx="122297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Controllability: Putting the User Back in Control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291715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3310" y="229171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2524" y="25490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🚫</a:t>
            </a: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The Problem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039428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Matrix Factorization gives users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ability to steer or override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the algorithm serves them. The system is a closed loop — opaque, unresponsive, and paternalistic by design.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291715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98067" y="229171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7282" y="25490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🎛️</a:t>
            </a: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The Solution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039428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genre-filter dropdown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built directly into the Streamlit UI. Users can globally strip specific genres (e.g., "Remove all Sci-Fi recommendations") from the active SVD output in real time.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75146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3310" y="4975146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2524" y="52324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⚙️</a:t>
            </a: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Technical Integrity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5722858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filter applies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post-prediction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fully preserving the mathematical integrity of the underlying SVD tensor. The latent space is never altered — only the final output layer is filtered.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975146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98067" y="4975146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7282" y="5232440"/>
            <a:ext cx="29021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🏭</a:t>
            </a: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Industry Alignment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5722858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Mirrors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intent-driven steering modules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used in commercial streaming applications — trustworthiness requires giving users meaningful, transparent agency over algorithmic outputs.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62689"/>
            <a:ext cx="2634496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Trustworthiness — Option 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568291" y="871776"/>
            <a:ext cx="11493698" cy="10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Targeted Clone Swarm Attack: Designing an Advanced Shilling Attack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1568291" y="2218611"/>
            <a:ext cx="2506504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Standard Attacks Fail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68291" y="2601158"/>
            <a:ext cx="3758684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bot attacks inject </a:t>
            </a: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noisy ratings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SVD naturally filters these out as statistical noise because they don't align with any coherent latent behavioral cluster.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68291" y="3647837"/>
            <a:ext cx="2295049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Novel Attack Vector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68291" y="4030385"/>
            <a:ext cx="3758684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Targeted Clone Swarm of 500 bots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engineered to perfectly replicate one victim user's exact viewing history. Each cloned profile embedded a single maximum </a:t>
            </a: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5-star rating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 low-profile payload movie (e.g., </a:t>
            </a: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Catwoman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68291" y="5323403"/>
            <a:ext cx="3758684" cy="2205871"/>
          </a:xfrm>
          <a:prstGeom prst="roundRect">
            <a:avLst>
              <a:gd name="adj" fmla="val 3172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860" y="5553313"/>
            <a:ext cx="208121" cy="1665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9549" y="5487233"/>
            <a:ext cx="3050858" cy="184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 clones + 1 victim = </a:t>
            </a:r>
            <a:r>
              <a:rPr lang="en-US" sz="13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501 statistically identical profiles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suddenly dominating the entire user cluster. When SVD retrains on the poisoned matrix, it is mathematically compelled to warp its k=50 principal dimensions — the target movie rises sharply into the victim's Top-10.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000" y="3258264"/>
            <a:ext cx="5470327" cy="3246596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92298" y="4051787"/>
            <a:ext cx="465677" cy="4656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77411" y="5751794"/>
            <a:ext cx="1359773" cy="26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Warp SVD</a:t>
            </a:r>
            <a:endParaRPr lang="en-US" sz="16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87488" y="4052660"/>
            <a:ext cx="465677" cy="4656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63724" y="5620823"/>
            <a:ext cx="1359773" cy="52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 Payload</a:t>
            </a:r>
            <a:endParaRPr lang="en-US" sz="1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73801" y="4052660"/>
            <a:ext cx="465676" cy="4656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22096" y="5751794"/>
            <a:ext cx="1359773" cy="26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Clone Profiles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403384"/>
            <a:ext cx="498515" cy="176689"/>
          </a:xfrm>
          <a:prstGeom prst="roundRect">
            <a:avLst>
              <a:gd name="adj" fmla="val 21567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0434" y="437317"/>
            <a:ext cx="362545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02449" y="602694"/>
            <a:ext cx="48603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Mathematical Collateral Damage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02449" y="1042035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significant discovery from poisoning SVD: the attack did not only elevate the intended target movie — it </a:t>
            </a: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violently reshuffled the entire global latent ecosystem.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402449" y="1441609"/>
            <a:ext cx="4179451" cy="906899"/>
          </a:xfrm>
          <a:prstGeom prst="roundRect">
            <a:avLst>
              <a:gd name="adj" fmla="val 806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87209" y="1441609"/>
            <a:ext cx="60960" cy="90689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76757" y="1570196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🎯</a:t>
            </a: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The Core Finding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76757" y="1811655"/>
            <a:ext cx="3876556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Because SVD globally reconfigured its </a:t>
            </a: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 dimensions</a:t>
            </a: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minimize variance against the clone swarm, completely unrelated, un-targeted movies were dragged into the victim's Top-10 as well.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02449" y="2405182"/>
            <a:ext cx="4179451" cy="906899"/>
          </a:xfrm>
          <a:prstGeom prst="roundRect">
            <a:avLst>
              <a:gd name="adj" fmla="val 806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7209" y="2405182"/>
            <a:ext cx="60960" cy="90689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76757" y="2533769"/>
            <a:ext cx="141755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🏴‍☠️</a:t>
            </a: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Collateral Movies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76757" y="2775228"/>
            <a:ext cx="3876556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Movies like </a:t>
            </a:r>
            <a:r>
              <a:rPr lang="en-US" sz="8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Pirates of the Caribbean</a:t>
            </a: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were </a:t>
            </a: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targeted</a:t>
            </a: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they simply shared vague latent structural DNA with the victim's profile and got caught in the gravitational pull of the tensor warp.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02449" y="3368754"/>
            <a:ext cx="4179451" cy="906899"/>
          </a:xfrm>
          <a:prstGeom prst="roundRect">
            <a:avLst>
              <a:gd name="adj" fmla="val 806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87209" y="3368754"/>
            <a:ext cx="60960" cy="90689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76757" y="3497342"/>
            <a:ext cx="2132052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Production Safety Implication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76757" y="3738801"/>
            <a:ext cx="3876556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recommender system built on matrix factorization is </a:t>
            </a: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structurally vulnerable</a:t>
            </a: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this class of coordinated attack — poisoning is not surgical, it is systemic.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84544" y="1377910"/>
            <a:ext cx="3532584" cy="2961442"/>
          </a:xfrm>
          <a:prstGeom prst="roundRect">
            <a:avLst>
              <a:gd name="adj" fmla="val 2757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97892" y="143458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Proof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97892" y="1668423"/>
            <a:ext cx="330588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Poisoning an SVD matrix doesn't surgically elevate one movie.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67913" y="1868210"/>
            <a:ext cx="3135868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violently reshuffles the entire global latent ecosystem — every dimension, every embedding, every recommendation.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97892" y="1868210"/>
            <a:ext cx="15240" cy="272177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97892" y="2204085"/>
            <a:ext cx="3305889" cy="600908"/>
          </a:xfrm>
          <a:prstGeom prst="roundRect">
            <a:avLst>
              <a:gd name="adj" fmla="val 7927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239" y="2345769"/>
            <a:ext cx="141684" cy="1133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66271" y="2289096"/>
            <a:ext cx="2824163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Mathematical Collateral Damage is a </a:t>
            </a: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verifiable, novel security risk</a:t>
            </a: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any production recommender system built on matrix factorization.</a:t>
            </a:r>
            <a:endParaRPr lang="en-US" sz="8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4403050"/>
            <a:ext cx="7825502" cy="30871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619803" y="5472227"/>
            <a:ext cx="1556738" cy="4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Clone Swarm Injected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619803" y="5956075"/>
            <a:ext cx="1556738" cy="2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Poisoned inputs introduced into training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555194" y="5894652"/>
            <a:ext cx="1556738" cy="211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SVD Reconfigures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555194" y="6166699"/>
            <a:ext cx="1556738" cy="2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shift in 50 latent dimensions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8513179" y="5472227"/>
            <a:ext cx="1556738" cy="4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Collateral Movies Dragged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513179" y="5956075"/>
            <a:ext cx="1556738" cy="2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titles pulled into top-10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3402449" y="7553920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diagram above illustrates how a targeted clone swarm injection cascades through SVD's global compression mechanism, producing unintended collateral damage far beyond the original attack target.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79677" y="423386"/>
            <a:ext cx="654487" cy="247055"/>
          </a:xfrm>
          <a:prstGeom prst="roundRect">
            <a:avLst>
              <a:gd name="adj" fmla="val 2024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68974" y="468035"/>
            <a:ext cx="47589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79677" y="709493"/>
            <a:ext cx="5117544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Conclusions &amp; Key Takeaways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179677" y="1321118"/>
            <a:ext cx="10271046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We Built. What We Proved.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comprehensive evaluation of SVD-based matrix factorization — its superiority, its trustworthiness gaps, and its structural vulnerabilities.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79677" y="1825347"/>
            <a:ext cx="3358515" cy="1589842"/>
          </a:xfrm>
          <a:prstGeom prst="roundRect">
            <a:avLst>
              <a:gd name="adj" fmla="val 39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36125" y="1981795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SVD Dominance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336125" y="2272903"/>
            <a:ext cx="3045619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 outperforms Memory-Based CF on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single metric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latent dimensionality is the correct and proven solution to Cold Start, sparsity, and popularity bias problems.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35823" y="1825347"/>
            <a:ext cx="3358634" cy="1589842"/>
          </a:xfrm>
          <a:prstGeom prst="roundRect">
            <a:avLst>
              <a:gd name="adj" fmla="val 39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92272" y="1981795"/>
            <a:ext cx="1957388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Trustworthiness Rubric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792272" y="2272903"/>
            <a:ext cx="3045738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Options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A, C, and E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address complementary gaps — interpretability, user agency, and adversarial robustness.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single option is sufficient alone.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92089" y="1825347"/>
            <a:ext cx="3358515" cy="1589842"/>
          </a:xfrm>
          <a:prstGeom prst="roundRect">
            <a:avLst>
              <a:gd name="adj" fmla="val 39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48537" y="1981795"/>
            <a:ext cx="200918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Dual-Edged Sword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248537" y="2272903"/>
            <a:ext cx="3045619" cy="985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SVD's greatest mathematical strength —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latent compression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is simultaneously its greatest structural vulnerability when facing coordinated clone swarm attacks.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79677" y="3622715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Verified Security Risk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179677" y="3952875"/>
            <a:ext cx="4953953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Mathematical Collateral Damage is not theoretical — it is a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verifiable, novel security risk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any production recommender system built on matrix factorization. The Targeted Clone Swarm attack demonstrates this conclusively.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79677" y="4851440"/>
            <a:ext cx="4953953" cy="691396"/>
          </a:xfrm>
          <a:prstGeom prst="roundRect">
            <a:avLst>
              <a:gd name="adj" fmla="val 9042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505" y="5051941"/>
            <a:ext cx="185976" cy="1488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663309" y="4986218"/>
            <a:ext cx="4321493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matrix factorization system should be deployed in production without adversarial robustness evaluation.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504390" y="3622715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Work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504390" y="3965138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504390" y="4202787"/>
            <a:ext cx="4953953" cy="1524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504390" y="430768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Differential Privacy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504390" y="4637842"/>
            <a:ext cx="4953953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differential privacy constraints on SVD training to limit the influence of injected clone profiles.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504390" y="5241369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504390" y="5479018"/>
            <a:ext cx="4953953" cy="1524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504390" y="5583912"/>
            <a:ext cx="186785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Adversarial Retraining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504390" y="5914073"/>
            <a:ext cx="4953953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Retrain models on poisoned matrices to build structural resistance to clone swarm injection attacks.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504390" y="6517600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504390" y="6755249"/>
            <a:ext cx="4953953" cy="1524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504390" y="686014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Explainability Layer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504390" y="7190303"/>
            <a:ext cx="4953953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 the surrogate explainability layer to produce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user-facing confidence scores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every recommendation.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1552</Words>
  <Application>Microsoft Office PowerPoint</Application>
  <PresentationFormat>Custom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Roboto</vt:lpstr>
      <vt:lpstr>Arial</vt:lpstr>
      <vt:lpstr>Raleway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Jacob Sze</cp:lastModifiedBy>
  <cp:revision>2</cp:revision>
  <dcterms:created xsi:type="dcterms:W3CDTF">2026-04-19T08:16:09Z</dcterms:created>
  <dcterms:modified xsi:type="dcterms:W3CDTF">2026-04-21T02:58:17Z</dcterms:modified>
</cp:coreProperties>
</file>