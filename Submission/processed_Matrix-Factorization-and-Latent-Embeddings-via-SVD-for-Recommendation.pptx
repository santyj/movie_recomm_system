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4630400" cy="8229600"/>
  <p:notesSz cx="8229600" cy="14630400"/>
  <p:embeddedFontLst>
    <p:embeddedFont>
      <p:font typeface="Raleway" pitchFamily="2" charset="0"/>
      <p:regular r:id="rId15"/>
    </p:embeddedFont>
    <p:embeddedFont>
      <p:font typeface="Raleway Light" pitchFamily="2" charset="0"/>
      <p:regular r:id="rId16"/>
    </p:embeddedFont>
    <p:embeddedFont>
      <p:font typeface="Roboto" panose="02000000000000000000" pitchFamily="2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347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.svg"/><Relationship Id="rId5" Type="http://schemas.openxmlformats.org/officeDocument/2006/relationships/image" Target="../media/image10.sv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02193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Matrix Factorization &amp; Latent Embeddings via SVD for Recommendation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810476"/>
            <a:ext cx="636817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 550: Massive Data Mining — Semester Project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504968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Santhosh Janakiraman (sj1230) · Mohammed Faisal Khan (mk2480)· Jacob Sze (jms1200)</a:t>
            </a:r>
            <a:endParaRPr lang="en-US" sz="1750" dirty="0"/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Rutgers University, New Brunswick,NJ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93790" y="5493544"/>
            <a:ext cx="1985843" cy="426244"/>
          </a:xfrm>
          <a:prstGeom prst="roundRect">
            <a:avLst>
              <a:gd name="adj" fmla="val 17880"/>
            </a:avLst>
          </a:prstGeom>
          <a:solidFill>
            <a:srgbClr val="E1E1EA"/>
          </a:solidFill>
          <a:ln/>
        </p:spPr>
      </p:sp>
      <p:sp>
        <p:nvSpPr>
          <p:cNvPr id="6" name="Text 4"/>
          <p:cNvSpPr/>
          <p:nvPr/>
        </p:nvSpPr>
        <p:spPr>
          <a:xfrm>
            <a:off x="929878" y="5561528"/>
            <a:ext cx="1713667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MACHINE LEARNING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2981" y="5485924"/>
            <a:ext cx="2472928" cy="441484"/>
          </a:xfrm>
          <a:prstGeom prst="roundRect">
            <a:avLst>
              <a:gd name="adj" fmla="val 17263"/>
            </a:avLst>
          </a:prstGeom>
          <a:noFill/>
          <a:ln w="7620">
            <a:solidFill>
              <a:srgbClr val="1B1B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36689" y="5561528"/>
            <a:ext cx="218551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RECOMMENDER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79256" y="5485924"/>
            <a:ext cx="629603" cy="441484"/>
          </a:xfrm>
          <a:prstGeom prst="roundRect">
            <a:avLst>
              <a:gd name="adj" fmla="val 17263"/>
            </a:avLst>
          </a:prstGeom>
          <a:noFill/>
          <a:ln w="7620">
            <a:solidFill>
              <a:srgbClr val="1B1B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22965" y="5561528"/>
            <a:ext cx="342186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22206" y="5485924"/>
            <a:ext cx="1579364" cy="441484"/>
          </a:xfrm>
          <a:prstGeom prst="roundRect">
            <a:avLst>
              <a:gd name="adj" fmla="val 17263"/>
            </a:avLst>
          </a:prstGeom>
          <a:noFill/>
          <a:ln w="7620">
            <a:solidFill>
              <a:srgbClr val="1B1B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5915" y="5561528"/>
            <a:ext cx="1291947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MOVIELENS 1M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379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93790" y="1583055"/>
            <a:ext cx="984837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We Built &amp; How We Evaluated It</a:t>
            </a:r>
            <a:endParaRPr lang="en-US" sz="4450" dirty="0"/>
          </a:p>
        </p:txBody>
      </p:sp>
      <p:sp>
        <p:nvSpPr>
          <p:cNvPr id="4" name="Shape 2"/>
          <p:cNvSpPr/>
          <p:nvPr/>
        </p:nvSpPr>
        <p:spPr>
          <a:xfrm>
            <a:off x="630436" y="2631996"/>
            <a:ext cx="6571417" cy="4459486"/>
          </a:xfrm>
          <a:prstGeom prst="roundRect">
            <a:avLst>
              <a:gd name="adj" fmla="val 3662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57250" y="285881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Core Objectives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57250" y="3439954"/>
            <a:ext cx="611778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two recommender systems from scratch using only </a:t>
            </a:r>
            <a:r>
              <a:rPr lang="en-US" sz="17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NumPy/SciPy primitives</a:t>
            </a:r>
            <a:r>
              <a:rPr lang="en-US" sz="1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no out-of-the-box monolithic recommender libraries.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7250" y="4732734"/>
            <a:ext cx="611778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Dataset: </a:t>
            </a:r>
            <a:r>
              <a:rPr lang="en-US" sz="17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MovieLens 1M</a:t>
            </a:r>
            <a:r>
              <a:rPr lang="en-US" sz="1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100,000+ ratings across 610 users and ~9,700 movies.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57250" y="5662613"/>
            <a:ext cx="611778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Evaluation: strict </a:t>
            </a:r>
            <a:r>
              <a:rPr lang="en-US" sz="17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80/20 per-user holdout split</a:t>
            </a:r>
            <a:r>
              <a:rPr lang="en-US" sz="1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to prevent data leakage — not a random global split.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99521" y="285881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Central Question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99521" y="3439954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 we prove that SVD's latent structure is simultaneously </a:t>
            </a:r>
            <a:r>
              <a:rPr lang="en-US" sz="17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powerful and exploitable</a:t>
            </a: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?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7599521" y="4420910"/>
            <a:ext cx="6244709" cy="2415421"/>
          </a:xfrm>
          <a:prstGeom prst="roundRect">
            <a:avLst>
              <a:gd name="adj" fmla="val 3944"/>
            </a:avLst>
          </a:prstGeom>
          <a:solidFill>
            <a:srgbClr val="B6D6FC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335" y="4765000"/>
            <a:ext cx="283488" cy="22681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336637" y="4704398"/>
            <a:ext cx="5280779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Beyond accuracy: addressed three Trustworthiness rubric options — </a:t>
            </a:r>
            <a:r>
              <a:rPr lang="en-US" sz="17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Option A</a:t>
            </a: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(Transparency), </a:t>
            </a:r>
            <a:r>
              <a:rPr lang="en-US" sz="17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Option C</a:t>
            </a: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(Controllability), and </a:t>
            </a:r>
            <a:r>
              <a:rPr lang="en-US" sz="17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Option E</a:t>
            </a: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(Robustness) — demonstrated via an interactive Streamlit dashboard.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0568" y="522089"/>
            <a:ext cx="2037874" cy="254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90568" y="823674"/>
            <a:ext cx="11249144" cy="1018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Sparsity &amp; Popularity Bias: Why Naive Recommendation Systems Break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690568" y="4051102"/>
            <a:ext cx="5425678" cy="672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user-item rating matrix is </a:t>
            </a: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overwhelmingly empty</a:t>
            </a: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most users have rated only a tiny fraction of ~9,700 available movies. This creates a cascade of failures that makes personalized discovery nearly impossible.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690568" y="4855131"/>
            <a:ext cx="5425678" cy="792837"/>
          </a:xfrm>
          <a:prstGeom prst="roundRect">
            <a:avLst>
              <a:gd name="adj" fmla="val 8637"/>
            </a:avLst>
          </a:prstGeom>
          <a:solidFill>
            <a:srgbClr val="FCF2B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3565" y="5083850"/>
            <a:ext cx="203716" cy="162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20278" y="5013008"/>
            <a:ext cx="4732973" cy="448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is the </a:t>
            </a:r>
            <a:r>
              <a:rPr lang="en-US" sz="12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Cold Start + Popularity Bias trap</a:t>
            </a: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and it demands a fundamentally different mathematical approach.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1535" y="2149912"/>
            <a:ext cx="5425678" cy="5425678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1535" y="2149912"/>
            <a:ext cx="5425678" cy="5425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9025" y="665798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Algorithm 1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769025" y="1094184"/>
            <a:ext cx="13092351" cy="137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Memory-Based Collaborative Filtering — The Baseline</a:t>
            </a:r>
            <a:endParaRPr lang="en-US" sz="4300" dirty="0"/>
          </a:p>
        </p:txBody>
      </p:sp>
      <p:sp>
        <p:nvSpPr>
          <p:cNvPr id="4" name="Text 2"/>
          <p:cNvSpPr/>
          <p:nvPr/>
        </p:nvSpPr>
        <p:spPr>
          <a:xfrm>
            <a:off x="769025" y="2999423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How It Works</a:t>
            </a:r>
            <a:endParaRPr lang="en-US" sz="2150" dirty="0"/>
          </a:p>
        </p:txBody>
      </p:sp>
      <p:sp>
        <p:nvSpPr>
          <p:cNvPr id="5" name="Text 3"/>
          <p:cNvSpPr/>
          <p:nvPr/>
        </p:nvSpPr>
        <p:spPr>
          <a:xfrm>
            <a:off x="769025" y="3555444"/>
            <a:ext cx="6278166" cy="103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each unrated movie, compute the </a:t>
            </a:r>
            <a:r>
              <a:rPr lang="en-US" sz="17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Pearson-Cosine similarity</a:t>
            </a: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between the target user and every user who has rated it. Prediction is a weighted average of neighbor ratings: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69025" y="4833223"/>
            <a:ext cx="6278166" cy="915114"/>
          </a:xfrm>
          <a:prstGeom prst="roundRect">
            <a:avLst>
              <a:gd name="adj" fmla="val 10085"/>
            </a:avLst>
          </a:prstGeom>
          <a:solidFill>
            <a:srgbClr val="D2D2E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695" y="5159335"/>
            <a:ext cx="274558" cy="2196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2923" y="5100876"/>
            <a:ext cx="5344597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sim(u,v) = (r_u · r_v) / (||r_u|| ||r_v||)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69025" y="5987772"/>
            <a:ext cx="6278166" cy="1384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Conceptually simple and interpretable, but </a:t>
            </a:r>
            <a:r>
              <a:rPr lang="en-US" sz="17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structurally fragile</a:t>
            </a: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under data sparsity. When no valid neighbors exist, the system has no fallback — it collapses into useless popularity-based averages.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590830" y="3026093"/>
            <a:ext cx="3032641" cy="2863096"/>
          </a:xfrm>
          <a:prstGeom prst="roundRect">
            <a:avLst>
              <a:gd name="adj" fmla="val 3223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253383"/>
            <a:ext cx="2578060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MAE Score</a:t>
            </a:r>
            <a:endParaRPr lang="en-US" sz="2150" dirty="0"/>
          </a:p>
        </p:txBody>
      </p:sp>
      <p:sp>
        <p:nvSpPr>
          <p:cNvPr id="12" name="Text 9"/>
          <p:cNvSpPr/>
          <p:nvPr/>
        </p:nvSpPr>
        <p:spPr>
          <a:xfrm>
            <a:off x="7818120" y="3809405"/>
            <a:ext cx="2578060" cy="947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450"/>
              </a:lnSpc>
              <a:buNone/>
            </a:pPr>
            <a:r>
              <a:rPr lang="en-US" sz="5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0.8173</a:t>
            </a:r>
            <a:endParaRPr lang="en-US" sz="5950" dirty="0"/>
          </a:p>
        </p:txBody>
      </p:sp>
      <p:sp>
        <p:nvSpPr>
          <p:cNvPr id="13" name="Text 10"/>
          <p:cNvSpPr/>
          <p:nvPr/>
        </p:nvSpPr>
        <p:spPr>
          <a:xfrm>
            <a:off x="7818120" y="4969669"/>
            <a:ext cx="2578060" cy="692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Above the critical single-star variation threshold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10836235" y="3026093"/>
            <a:ext cx="3032760" cy="2863096"/>
          </a:xfrm>
          <a:prstGeom prst="roundRect">
            <a:avLst>
              <a:gd name="adj" fmla="val 3223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063526" y="3253383"/>
            <a:ext cx="2578179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NDCG@10</a:t>
            </a:r>
            <a:endParaRPr lang="en-US" sz="2150" dirty="0"/>
          </a:p>
        </p:txBody>
      </p:sp>
      <p:sp>
        <p:nvSpPr>
          <p:cNvPr id="16" name="Text 13"/>
          <p:cNvSpPr/>
          <p:nvPr/>
        </p:nvSpPr>
        <p:spPr>
          <a:xfrm>
            <a:off x="11063526" y="3809405"/>
            <a:ext cx="2578179" cy="947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450"/>
              </a:lnSpc>
              <a:buNone/>
            </a:pPr>
            <a:r>
              <a:rPr lang="en-US" sz="5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0.0047</a:t>
            </a:r>
            <a:endParaRPr lang="en-US" sz="5950" dirty="0"/>
          </a:p>
        </p:txBody>
      </p:sp>
      <p:sp>
        <p:nvSpPr>
          <p:cNvPr id="17" name="Text 14"/>
          <p:cNvSpPr/>
          <p:nvPr/>
        </p:nvSpPr>
        <p:spPr>
          <a:xfrm>
            <a:off x="11063526" y="4969669"/>
            <a:ext cx="2578179" cy="692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Near-total failure on personalized ranking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79677" y="507921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Algorithm 2</a:t>
            </a:r>
            <a:endParaRPr lang="en-US" sz="1450" dirty="0"/>
          </a:p>
        </p:txBody>
      </p:sp>
      <p:sp>
        <p:nvSpPr>
          <p:cNvPr id="3" name="Text 1"/>
          <p:cNvSpPr/>
          <p:nvPr/>
        </p:nvSpPr>
        <p:spPr>
          <a:xfrm>
            <a:off x="2179677" y="779502"/>
            <a:ext cx="10271046" cy="93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Model-Based SVD — Compressing the Matrix into Latent Dimensions</a:t>
            </a:r>
            <a:endParaRPr lang="en-US" sz="2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487" y="1856303"/>
            <a:ext cx="7987308" cy="3655457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94893" y="2768973"/>
            <a:ext cx="513537" cy="5135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437363" y="4499272"/>
            <a:ext cx="1499529" cy="577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Dense Predictions</a:t>
            </a:r>
            <a:endParaRPr lang="en-US" sz="18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14865" y="2769936"/>
            <a:ext cx="513537" cy="51353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547547" y="4499272"/>
            <a:ext cx="1499529" cy="577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 Global Mean</a:t>
            </a:r>
            <a:endParaRPr lang="en-US" sz="18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35320" y="2769936"/>
            <a:ext cx="513537" cy="513537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668001" y="4499272"/>
            <a:ext cx="1499528" cy="577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Decompose k=50</a:t>
            </a:r>
            <a:endParaRPr lang="en-US" sz="18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45504" y="2769936"/>
            <a:ext cx="513537" cy="513537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747373" y="4643704"/>
            <a:ext cx="1499528" cy="288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Sparse Input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2179677" y="5621655"/>
            <a:ext cx="10271046" cy="591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SVD decomposes the sparse matrix into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 = 50 dense orthogonal latent dimensions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encoding hidden user taste patterns and hidden movie characteristics simultaneously. By operating in latent space rather than raw rating space, SVD naturally escapes the popularity trap and surfaces obscure, long-tail content — acting as an AI "smoothing" function that infers relationships even for movies with near-zero interaction history.</a:t>
            </a:r>
            <a:endParaRPr lang="en-US" sz="1150" dirty="0"/>
          </a:p>
        </p:txBody>
      </p:sp>
      <p:sp>
        <p:nvSpPr>
          <p:cNvPr id="14" name="Text 7"/>
          <p:cNvSpPr/>
          <p:nvPr/>
        </p:nvSpPr>
        <p:spPr>
          <a:xfrm>
            <a:off x="2179677" y="6397466"/>
            <a:ext cx="3342322" cy="491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50"/>
              </a:lnSpc>
              <a:buNone/>
            </a:pPr>
            <a:r>
              <a:rPr lang="en-US" sz="3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0.7262</a:t>
            </a:r>
            <a:endParaRPr lang="en-US" sz="3850" dirty="0"/>
          </a:p>
        </p:txBody>
      </p:sp>
      <p:sp>
        <p:nvSpPr>
          <p:cNvPr id="15" name="Text 8"/>
          <p:cNvSpPr/>
          <p:nvPr/>
        </p:nvSpPr>
        <p:spPr>
          <a:xfrm>
            <a:off x="2920484" y="7036237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MAE</a:t>
            </a:r>
            <a:endParaRPr lang="en-US" sz="1450" dirty="0"/>
          </a:p>
        </p:txBody>
      </p:sp>
      <p:sp>
        <p:nvSpPr>
          <p:cNvPr id="16" name="Text 9"/>
          <p:cNvSpPr/>
          <p:nvPr/>
        </p:nvSpPr>
        <p:spPr>
          <a:xfrm>
            <a:off x="2179677" y="7327344"/>
            <a:ext cx="3342322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Below the critical single-star threshold — dramatic improvement</a:t>
            </a:r>
            <a:endParaRPr lang="en-US" sz="1150" dirty="0"/>
          </a:p>
        </p:txBody>
      </p:sp>
      <p:sp>
        <p:nvSpPr>
          <p:cNvPr id="17" name="Text 10"/>
          <p:cNvSpPr/>
          <p:nvPr/>
        </p:nvSpPr>
        <p:spPr>
          <a:xfrm>
            <a:off x="5644039" y="6397466"/>
            <a:ext cx="3342322" cy="491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50"/>
              </a:lnSpc>
              <a:buNone/>
            </a:pPr>
            <a:r>
              <a:rPr lang="en-US" sz="3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0.4643</a:t>
            </a:r>
            <a:endParaRPr lang="en-US" sz="3850" dirty="0"/>
          </a:p>
        </p:txBody>
      </p:sp>
      <p:sp>
        <p:nvSpPr>
          <p:cNvPr id="18" name="Text 11"/>
          <p:cNvSpPr/>
          <p:nvPr/>
        </p:nvSpPr>
        <p:spPr>
          <a:xfrm>
            <a:off x="6384846" y="7036237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NDCG@10</a:t>
            </a:r>
            <a:endParaRPr lang="en-US" sz="1450" dirty="0"/>
          </a:p>
        </p:txBody>
      </p:sp>
      <p:sp>
        <p:nvSpPr>
          <p:cNvPr id="19" name="Text 12"/>
          <p:cNvSpPr/>
          <p:nvPr/>
        </p:nvSpPr>
        <p:spPr>
          <a:xfrm>
            <a:off x="5644039" y="7327344"/>
            <a:ext cx="3342322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Personalized ranking quality — a transformational leap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9108400" y="6397466"/>
            <a:ext cx="3342322" cy="491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50"/>
              </a:lnSpc>
              <a:buNone/>
            </a:pPr>
            <a:r>
              <a:rPr lang="en-US" sz="3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3850" dirty="0"/>
          </a:p>
        </p:txBody>
      </p:sp>
      <p:sp>
        <p:nvSpPr>
          <p:cNvPr id="21" name="Text 14"/>
          <p:cNvSpPr/>
          <p:nvPr/>
        </p:nvSpPr>
        <p:spPr>
          <a:xfrm>
            <a:off x="9849207" y="7036237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Latent Dims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9108400" y="7327344"/>
            <a:ext cx="3342322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Dense orthogonal dimensions encoding taste &amp; movie characteristics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76" y="667226"/>
            <a:ext cx="2569488" cy="321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19376" y="1062752"/>
            <a:ext cx="12735401" cy="642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Rating Prediction Accuracy: MAE &amp; RMSE Comparison</a:t>
            </a:r>
            <a:endParaRPr lang="en-US" sz="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76" y="2193965"/>
            <a:ext cx="7029688" cy="439352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58175" y="2170628"/>
            <a:ext cx="2569488" cy="321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Takeaways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58175" y="2677954"/>
            <a:ext cx="5660350" cy="3330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6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MAE:</a:t>
            </a: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SVD 0.7262 vs. Baseline 0.8173 — SVD drops below the critical single-star variation threshold; the Baseline does not</a:t>
            </a:r>
            <a:endParaRPr lang="en-US" sz="1600" dirty="0"/>
          </a:p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6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RMSE:</a:t>
            </a: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SVD 0.9376 vs. Baseline 1.0537 — SVD stays under 1.0, meaning worst-case errors are meaningfully smaller</a:t>
            </a:r>
            <a:endParaRPr lang="en-US" sz="1600" dirty="0"/>
          </a:p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Baseline's high MAE directly reflects the </a:t>
            </a:r>
            <a:r>
              <a:rPr lang="en-US" sz="16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Cold Start collapse</a:t>
            </a: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when neighbors don't exist, every prediction falls back to a useless global average</a:t>
            </a:r>
            <a:endParaRPr lang="en-US" sz="1600" dirty="0"/>
          </a:p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SVD's 50-dimensional latent compression acts as a </a:t>
            </a:r>
            <a:r>
              <a:rPr lang="en-US" sz="16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natural noise filter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58175" y="6217801"/>
            <a:ext cx="5660350" cy="1134904"/>
          </a:xfrm>
          <a:prstGeom prst="roundRect">
            <a:avLst>
              <a:gd name="adj" fmla="val 7607"/>
            </a:avLst>
          </a:prstGeom>
          <a:solidFill>
            <a:srgbClr val="B6FCB8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3677" y="6515695"/>
            <a:ext cx="256937" cy="2055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926116" y="6455331"/>
            <a:ext cx="4786908" cy="626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Lower is better on both axes — </a:t>
            </a:r>
            <a:r>
              <a:rPr lang="en-US" sz="16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SVD wins on every rating accuracy metric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1063" y="429339"/>
            <a:ext cx="1639133" cy="2049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2791063" y="664488"/>
            <a:ext cx="7921228" cy="409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Top-10 Ranking Quality: Precision, Recall, F1 &amp; NDCG</a:t>
            </a:r>
            <a:endParaRPr lang="en-US" sz="2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063" y="1187887"/>
            <a:ext cx="9048274" cy="6030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91063" y="7303770"/>
            <a:ext cx="9048274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Baseline bars are nearly invisible across all four metrics — this is a </a:t>
            </a:r>
            <a:r>
              <a:rPr lang="en-US" sz="1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structural failure of Memory-Based CF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not a marginal gap. SVD's Top-10 lists contain ~155x more relevant movies per recommendation served (Precision@10), and NDCG@10 shows a </a:t>
            </a:r>
            <a:r>
              <a:rPr lang="en-US" sz="1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9,757% improvement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NDCG heavily penalizes any system that fails to rank the most relevant items at the very top. The F1-Measure confirms SVD's gains are balanced, not inflated by one metric alone.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3737" y="542211"/>
            <a:ext cx="2753797" cy="271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Trustworthiness — Option A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1323737" y="866537"/>
            <a:ext cx="11876603" cy="542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Transparency &amp; Explainability: Cracking Open the Black Box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323737" y="2371487"/>
            <a:ext cx="2170748" cy="271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23737" y="2775585"/>
            <a:ext cx="5779532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Raw 50-dimensional latent vectors are </a:t>
            </a:r>
            <a:r>
              <a:rPr lang="en-US" sz="13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completely uninterpretable</a:t>
            </a: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SVD is a mathematical black box that users fundamentally distrust. There is no intuitive way to explain why a particular movie was recommended from raw latent coordinates alone.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323737" y="3889534"/>
            <a:ext cx="2170748" cy="271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Solution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23737" y="4293632"/>
            <a:ext cx="5779532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</a:t>
            </a:r>
            <a:r>
              <a:rPr lang="en-US" sz="13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 Surrogate Explanation architecture</a:t>
            </a: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SVD handles prediction; a separate Content-Based layer generates the human-readable justification. The surrogate automatically identifies genre overlaps between the SVD recommendation and the user's historical favorites.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323737" y="5424249"/>
            <a:ext cx="5779532" cy="873204"/>
          </a:xfrm>
          <a:prstGeom prst="roundRect">
            <a:avLst>
              <a:gd name="adj" fmla="val 8353"/>
            </a:avLst>
          </a:prstGeom>
          <a:solidFill>
            <a:srgbClr val="B6D6FC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7330" y="5664518"/>
            <a:ext cx="217051" cy="17359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87974" y="5600462"/>
            <a:ext cx="5041702" cy="490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UI output: </a:t>
            </a:r>
            <a:r>
              <a:rPr lang="en-US" sz="1350" i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"Because you enjoyed [Movie X], our AI found strong thematic overlaps here."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323737" y="6446996"/>
            <a:ext cx="5779532" cy="490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Prediction and explanation are </a:t>
            </a:r>
            <a:r>
              <a:rPr lang="en-US" sz="13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fully decoupled</a:t>
            </a: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the SVD engine is never compromised for the sake of interpretability.</a:t>
            </a:r>
            <a:endParaRPr lang="en-US" sz="13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513" y="1758196"/>
            <a:ext cx="5779532" cy="5779532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513" y="1758196"/>
            <a:ext cx="5779532" cy="57795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97719"/>
            <a:ext cx="360878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Trustworthiness — Option C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93790" y="1242774"/>
            <a:ext cx="1222974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Controllability: Putting the User Back in Control</a:t>
            </a:r>
            <a:endParaRPr lang="en-US" sz="4450" dirty="0"/>
          </a:p>
        </p:txBody>
      </p:sp>
      <p:sp>
        <p:nvSpPr>
          <p:cNvPr id="4" name="Shape 2"/>
          <p:cNvSpPr/>
          <p:nvPr/>
        </p:nvSpPr>
        <p:spPr>
          <a:xfrm>
            <a:off x="793790" y="2291715"/>
            <a:ext cx="6407944" cy="2456617"/>
          </a:xfrm>
          <a:prstGeom prst="roundRect">
            <a:avLst>
              <a:gd name="adj" fmla="val 5956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7C7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3310" y="2291715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B1B27"/>
          </a:solidFill>
          <a:ln/>
        </p:spPr>
      </p:sp>
      <p:sp>
        <p:nvSpPr>
          <p:cNvPr id="6" name="Text 4"/>
          <p:cNvSpPr/>
          <p:nvPr/>
        </p:nvSpPr>
        <p:spPr>
          <a:xfrm>
            <a:off x="1142524" y="254900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🚫</a:t>
            </a: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The Problem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42524" y="3039428"/>
            <a:ext cx="580191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Traditional Matrix Factorization gives users </a:t>
            </a:r>
            <a:r>
              <a:rPr lang="en-US" sz="17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ability to steer or override</a:t>
            </a: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what the algorithm serves them. The system is a closed loop — opaque, unresponsive, and paternalistic by design.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2291715"/>
            <a:ext cx="6408063" cy="2456617"/>
          </a:xfrm>
          <a:prstGeom prst="roundRect">
            <a:avLst>
              <a:gd name="adj" fmla="val 5956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7C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98067" y="2291715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B1B27"/>
          </a:solidFill>
          <a:ln/>
        </p:spPr>
      </p:sp>
      <p:sp>
        <p:nvSpPr>
          <p:cNvPr id="10" name="Text 8"/>
          <p:cNvSpPr/>
          <p:nvPr/>
        </p:nvSpPr>
        <p:spPr>
          <a:xfrm>
            <a:off x="7777282" y="254900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🎛️</a:t>
            </a: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The Solution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7282" y="3039428"/>
            <a:ext cx="580203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 </a:t>
            </a:r>
            <a:r>
              <a:rPr lang="en-US" sz="17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interactive genre-filter dropdown</a:t>
            </a: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built directly into the Streamlit UI. Users can globally strip specific genres (e.g., "Remove all Sci-Fi recommendations") from the active SVD output in real time.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93790" y="4975146"/>
            <a:ext cx="6407944" cy="2456617"/>
          </a:xfrm>
          <a:prstGeom prst="roundRect">
            <a:avLst>
              <a:gd name="adj" fmla="val 5956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7C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310" y="4975146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B1B27"/>
          </a:solidFill>
          <a:ln/>
        </p:spPr>
      </p:sp>
      <p:sp>
        <p:nvSpPr>
          <p:cNvPr id="14" name="Text 12"/>
          <p:cNvSpPr/>
          <p:nvPr/>
        </p:nvSpPr>
        <p:spPr>
          <a:xfrm>
            <a:off x="1142524" y="523244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⚙️</a:t>
            </a: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Technical Integrity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42524" y="5722858"/>
            <a:ext cx="580191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filter applies </a:t>
            </a:r>
            <a:r>
              <a:rPr lang="en-US" sz="17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post-prediction</a:t>
            </a: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fully preserving the mathematical integrity of the underlying SVD tensor. The latent space is never altered — only the final output layer is filtered.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428548" y="4975146"/>
            <a:ext cx="6408063" cy="2456617"/>
          </a:xfrm>
          <a:prstGeom prst="roundRect">
            <a:avLst>
              <a:gd name="adj" fmla="val 5956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7C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98067" y="4975146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B1B2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7282" y="5232440"/>
            <a:ext cx="290214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🏭</a:t>
            </a: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Industry Alignment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777282" y="5722858"/>
            <a:ext cx="580203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Mirrors </a:t>
            </a:r>
            <a:r>
              <a:rPr lang="en-US" sz="17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intent-driven steering modules</a:t>
            </a: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used in commercial streaming applications — trustworthiness requires giving users meaningful, transparent agency over algorithmic outputs.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8291" y="562689"/>
            <a:ext cx="2634496" cy="260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Trustworthiness — Option 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568291" y="871776"/>
            <a:ext cx="11493698" cy="1041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Targeted Clone Swarm Attack: Designing an Advanced Shilling Attack</a:t>
            </a:r>
            <a:endParaRPr lang="en-US" sz="3250" dirty="0"/>
          </a:p>
        </p:txBody>
      </p:sp>
      <p:sp>
        <p:nvSpPr>
          <p:cNvPr id="4" name="Text 2"/>
          <p:cNvSpPr/>
          <p:nvPr/>
        </p:nvSpPr>
        <p:spPr>
          <a:xfrm>
            <a:off x="1568291" y="2218611"/>
            <a:ext cx="2506504" cy="260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Standard Attacks Fail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68291" y="2601158"/>
            <a:ext cx="3758684" cy="92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bot attacks inject </a:t>
            </a:r>
            <a:r>
              <a:rPr lang="en-US" sz="13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random noisy ratings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SVD naturally filters these out as statistical noise because they don't align with any coherent latent behavioral cluster.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568291" y="3647837"/>
            <a:ext cx="2295049" cy="260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Our Novel Attack Vector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68291" y="4030385"/>
            <a:ext cx="3758684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</a:t>
            </a:r>
            <a:r>
              <a:rPr lang="en-US" sz="13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Targeted Clone Swarm of 500 bots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engineered to perfectly replicate one victim user's exact viewing history. Each cloned profile embedded a single maximum </a:t>
            </a:r>
            <a:r>
              <a:rPr lang="en-US" sz="13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5-star rating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a low-profile payload movie (e.g., </a:t>
            </a:r>
            <a:r>
              <a:rPr lang="en-US" sz="130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Catwoman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568291" y="5323403"/>
            <a:ext cx="3758684" cy="2205871"/>
          </a:xfrm>
          <a:prstGeom prst="roundRect">
            <a:avLst>
              <a:gd name="adj" fmla="val 3172"/>
            </a:avLst>
          </a:prstGeom>
          <a:solidFill>
            <a:srgbClr val="FFB3B4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860" y="5553313"/>
            <a:ext cx="208121" cy="1665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09549" y="5487233"/>
            <a:ext cx="3050858" cy="1848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500 clones + 1 victim = </a:t>
            </a:r>
            <a:r>
              <a:rPr lang="en-US" sz="13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501 statistically identical profiles</a:t>
            </a: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suddenly dominating the entire user cluster. When SVD retrains on the poisoned matrix, it is mathematically compelled to warp its k=50 principal dimensions — the target movie rises sharply into the victim's Top-10.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000" y="3258264"/>
            <a:ext cx="5470327" cy="3246596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92298" y="4051787"/>
            <a:ext cx="465677" cy="4656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477411" y="5751794"/>
            <a:ext cx="1359773" cy="261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Warp SVD</a:t>
            </a:r>
            <a:endParaRPr lang="en-US" sz="16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87488" y="4052660"/>
            <a:ext cx="465677" cy="46567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763724" y="5620823"/>
            <a:ext cx="1359773" cy="523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 Payload</a:t>
            </a:r>
            <a:endParaRPr lang="en-US" sz="16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73801" y="4052660"/>
            <a:ext cx="465676" cy="46567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022096" y="5751794"/>
            <a:ext cx="1359773" cy="261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Clone Profiles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02449" y="403384"/>
            <a:ext cx="498515" cy="176689"/>
          </a:xfrm>
          <a:prstGeom prst="roundRect">
            <a:avLst>
              <a:gd name="adj" fmla="val 21567"/>
            </a:avLst>
          </a:prstGeom>
          <a:solidFill>
            <a:srgbClr val="E1E1EA"/>
          </a:solidFill>
          <a:ln/>
        </p:spPr>
      </p:sp>
      <p:sp>
        <p:nvSpPr>
          <p:cNvPr id="3" name="Text 1"/>
          <p:cNvSpPr/>
          <p:nvPr/>
        </p:nvSpPr>
        <p:spPr>
          <a:xfrm>
            <a:off x="3470434" y="437317"/>
            <a:ext cx="362545" cy="108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5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SLIDE 11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402449" y="602694"/>
            <a:ext cx="486036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Mathematical Collateral Damage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402449" y="1042035"/>
            <a:ext cx="7825502" cy="272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most significant discovery from poisoning SVD: the attack did not only elevate the intended target movie — it </a:t>
            </a:r>
            <a:r>
              <a:rPr lang="en-US" sz="8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violently reshuffled the entire global latent ecosystem.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402449" y="1441609"/>
            <a:ext cx="4179451" cy="906899"/>
          </a:xfrm>
          <a:prstGeom prst="roundRect">
            <a:avLst>
              <a:gd name="adj" fmla="val 8066"/>
            </a:avLst>
          </a:prstGeom>
          <a:solidFill>
            <a:srgbClr val="FFFFFF">
              <a:alpha val="95000"/>
            </a:srgbClr>
          </a:solidFill>
          <a:ln w="15240">
            <a:solidFill>
              <a:srgbClr val="C7C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7209" y="1441609"/>
            <a:ext cx="60960" cy="906899"/>
          </a:xfrm>
          <a:prstGeom prst="roundRect">
            <a:avLst>
              <a:gd name="adj" fmla="val 78139"/>
            </a:avLst>
          </a:prstGeom>
          <a:solidFill>
            <a:srgbClr val="1B1B27"/>
          </a:solidFill>
          <a:ln/>
        </p:spPr>
      </p:sp>
      <p:sp>
        <p:nvSpPr>
          <p:cNvPr id="8" name="Text 6"/>
          <p:cNvSpPr/>
          <p:nvPr/>
        </p:nvSpPr>
        <p:spPr>
          <a:xfrm>
            <a:off x="3576757" y="1570196"/>
            <a:ext cx="1417558" cy="184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🎯</a:t>
            </a: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The Core Finding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76757" y="1811655"/>
            <a:ext cx="3876556" cy="40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SVD globally reconfigured its </a:t>
            </a:r>
            <a:r>
              <a:rPr lang="en-US" sz="8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 dimensions</a:t>
            </a: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to minimize variance against the clone swarm, completely unrelated, un-targeted movies were dragged into the victim's Top-10 as well.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02449" y="2405182"/>
            <a:ext cx="4179451" cy="906899"/>
          </a:xfrm>
          <a:prstGeom prst="roundRect">
            <a:avLst>
              <a:gd name="adj" fmla="val 8066"/>
            </a:avLst>
          </a:prstGeom>
          <a:solidFill>
            <a:srgbClr val="FFFFFF">
              <a:alpha val="95000"/>
            </a:srgbClr>
          </a:solidFill>
          <a:ln w="15240">
            <a:solidFill>
              <a:srgbClr val="C7C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7209" y="2405182"/>
            <a:ext cx="60960" cy="906899"/>
          </a:xfrm>
          <a:prstGeom prst="roundRect">
            <a:avLst>
              <a:gd name="adj" fmla="val 78139"/>
            </a:avLst>
          </a:prstGeom>
          <a:solidFill>
            <a:srgbClr val="1B1B27"/>
          </a:solidFill>
          <a:ln/>
        </p:spPr>
      </p:sp>
      <p:sp>
        <p:nvSpPr>
          <p:cNvPr id="12" name="Text 10"/>
          <p:cNvSpPr/>
          <p:nvPr/>
        </p:nvSpPr>
        <p:spPr>
          <a:xfrm>
            <a:off x="3576757" y="2533769"/>
            <a:ext cx="1417558" cy="184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🏴‍☠️</a:t>
            </a: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Collateral Movies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6757" y="2775228"/>
            <a:ext cx="3876556" cy="40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Movies like </a:t>
            </a:r>
            <a:r>
              <a:rPr lang="en-US" sz="8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Pirates of the Caribbean</a:t>
            </a: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were </a:t>
            </a:r>
            <a:r>
              <a:rPr lang="en-US" sz="8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never targeted</a:t>
            </a: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they simply shared vague latent structural DNA with the victim's profile and got caught in the gravitational pull of the tensor warp.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02449" y="3368754"/>
            <a:ext cx="4179451" cy="906899"/>
          </a:xfrm>
          <a:prstGeom prst="roundRect">
            <a:avLst>
              <a:gd name="adj" fmla="val 8066"/>
            </a:avLst>
          </a:prstGeom>
          <a:solidFill>
            <a:srgbClr val="FFFFFF">
              <a:alpha val="95000"/>
            </a:srgbClr>
          </a:solidFill>
          <a:ln w="15240">
            <a:solidFill>
              <a:srgbClr val="C7C7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7209" y="3368754"/>
            <a:ext cx="60960" cy="906899"/>
          </a:xfrm>
          <a:prstGeom prst="roundRect">
            <a:avLst>
              <a:gd name="adj" fmla="val 78139"/>
            </a:avLst>
          </a:prstGeom>
          <a:solidFill>
            <a:srgbClr val="1B1B27"/>
          </a:solidFill>
          <a:ln/>
        </p:spPr>
      </p:sp>
      <p:sp>
        <p:nvSpPr>
          <p:cNvPr id="16" name="Text 14"/>
          <p:cNvSpPr/>
          <p:nvPr/>
        </p:nvSpPr>
        <p:spPr>
          <a:xfrm>
            <a:off x="3576757" y="3497342"/>
            <a:ext cx="2132052" cy="184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⚠️</a:t>
            </a: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Production Safety Implication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76757" y="3738801"/>
            <a:ext cx="3876556" cy="40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 recommender system built on matrix factorization is </a:t>
            </a:r>
            <a:r>
              <a:rPr lang="en-US" sz="8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structurally vulnerable</a:t>
            </a: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to this class of coordinated attack — poisoning is not surgical, it is systemic.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84544" y="1377910"/>
            <a:ext cx="3532584" cy="2961442"/>
          </a:xfrm>
          <a:prstGeom prst="roundRect">
            <a:avLst>
              <a:gd name="adj" fmla="val 2757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897892" y="1434584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Core Proof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97892" y="1668423"/>
            <a:ext cx="3305889" cy="13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Poisoning an SVD matrix doesn't surgically elevate one movie.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067913" y="1868210"/>
            <a:ext cx="3135868" cy="272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violently reshuffles the entire global latent ecosystem — every dimension, every embedding, every recommendation.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897892" y="1868210"/>
            <a:ext cx="15240" cy="272177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3" name="Shape 21"/>
          <p:cNvSpPr/>
          <p:nvPr/>
        </p:nvSpPr>
        <p:spPr>
          <a:xfrm>
            <a:off x="7897892" y="2204085"/>
            <a:ext cx="3305889" cy="600908"/>
          </a:xfrm>
          <a:prstGeom prst="roundRect">
            <a:avLst>
              <a:gd name="adj" fmla="val 7927"/>
            </a:avLst>
          </a:prstGeom>
          <a:solidFill>
            <a:srgbClr val="FFB3B4"/>
          </a:solidFill>
          <a:ln/>
        </p:spPr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239" y="2345769"/>
            <a:ext cx="141684" cy="11334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266271" y="2289096"/>
            <a:ext cx="2824163" cy="40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Mathematical Collateral Damage is a </a:t>
            </a:r>
            <a:r>
              <a:rPr lang="en-US" sz="8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verifiable, novel security risk</a:t>
            </a:r>
            <a:r>
              <a:rPr lang="en-US" sz="8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any production recommender system built on matrix factorization.</a:t>
            </a:r>
            <a:endParaRPr lang="en-US" sz="85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449" y="4403050"/>
            <a:ext cx="7825502" cy="30871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619803" y="5472227"/>
            <a:ext cx="1556738" cy="42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Clone Swarm Injected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4619803" y="5956075"/>
            <a:ext cx="1556738" cy="25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Poisoned inputs introduced into training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6555194" y="5894652"/>
            <a:ext cx="1556738" cy="211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SVD Reconfigures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55194" y="6166699"/>
            <a:ext cx="1556738" cy="25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shift in 50 latent dimensions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8513179" y="5472227"/>
            <a:ext cx="1556738" cy="42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Collateral Movies Dragged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8513179" y="5956075"/>
            <a:ext cx="1556738" cy="25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Many titles pulled into top-10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3402449" y="7553920"/>
            <a:ext cx="7825502" cy="272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diagram above illustrates how a targeted clone swarm injection cascades through SVD's global compression mechanism, producing unintended collateral damage far beyond the original attack target.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79677" y="423386"/>
            <a:ext cx="654487" cy="247055"/>
          </a:xfrm>
          <a:prstGeom prst="roundRect">
            <a:avLst>
              <a:gd name="adj" fmla="val 20245"/>
            </a:avLst>
          </a:prstGeom>
          <a:solidFill>
            <a:srgbClr val="E1E1EA"/>
          </a:solidFill>
          <a:ln/>
        </p:spPr>
      </p:sp>
      <p:sp>
        <p:nvSpPr>
          <p:cNvPr id="3" name="Text 1"/>
          <p:cNvSpPr/>
          <p:nvPr/>
        </p:nvSpPr>
        <p:spPr>
          <a:xfrm>
            <a:off x="2268974" y="468035"/>
            <a:ext cx="475893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SLIDE 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179677" y="709493"/>
            <a:ext cx="5117544" cy="46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Conclusions &amp; Key Takeaways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179677" y="1321118"/>
            <a:ext cx="10271046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We Built. What We Proved.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comprehensive evaluation of SVD-based matrix factorization — its superiority, its trustworthiness gaps, and its structural vulnerabilities.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79677" y="1825347"/>
            <a:ext cx="3358515" cy="1589842"/>
          </a:xfrm>
          <a:prstGeom prst="roundRect">
            <a:avLst>
              <a:gd name="adj" fmla="val 3932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36125" y="1981795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SVD Dominance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336125" y="2272903"/>
            <a:ext cx="3045619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SVD outperforms Memory-Based CF on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single metric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latent dimensionality is the correct and proven solution to Cold Start, sparsity, and popularity bias problems.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35823" y="1825347"/>
            <a:ext cx="3358634" cy="1589842"/>
          </a:xfrm>
          <a:prstGeom prst="roundRect">
            <a:avLst>
              <a:gd name="adj" fmla="val 3932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2272" y="1981795"/>
            <a:ext cx="1957388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Trustworthiness Rubric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792272" y="2272903"/>
            <a:ext cx="3045738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Options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C, and E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address complementary gaps — interpretability, user agency, and adversarial robustness.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single option is sufficient alone.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092089" y="1825347"/>
            <a:ext cx="3358515" cy="1589842"/>
          </a:xfrm>
          <a:prstGeom prst="roundRect">
            <a:avLst>
              <a:gd name="adj" fmla="val 3932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48537" y="1981795"/>
            <a:ext cx="200918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Dual-Edged Sword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248537" y="2272903"/>
            <a:ext cx="3045619" cy="985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SVD's greatest mathematical strength —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latent compression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is simultaneously its greatest structural vulnerability when facing coordinated clone swarm attacks.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79677" y="3622715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Verified Security Risk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179677" y="3952875"/>
            <a:ext cx="4953953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Mathematical Collateral Damage is not theoretical — it is a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verifiable, novel security risk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any production recommender system built on matrix factorization. The Targeted Clone Swarm attack demonstrates this conclusively.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79677" y="4851440"/>
            <a:ext cx="4953953" cy="691396"/>
          </a:xfrm>
          <a:prstGeom prst="roundRect">
            <a:avLst>
              <a:gd name="adj" fmla="val 9042"/>
            </a:avLst>
          </a:prstGeom>
          <a:solidFill>
            <a:srgbClr val="FCF2B5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505" y="5051941"/>
            <a:ext cx="185976" cy="14882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2663309" y="4986218"/>
            <a:ext cx="4321493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matrix factorization system should be deployed in production without adversarial robustness evaluation.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504390" y="3622715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Future Work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504390" y="3965138"/>
            <a:ext cx="297656" cy="185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504390" y="4202787"/>
            <a:ext cx="4953953" cy="1524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3" name="Text 20"/>
          <p:cNvSpPr/>
          <p:nvPr/>
        </p:nvSpPr>
        <p:spPr>
          <a:xfrm>
            <a:off x="7504390" y="4307681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Differential Privacy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504390" y="4637842"/>
            <a:ext cx="4953953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Apply differential privacy constraints on SVD training to limit the influence of injected clone profiles.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7504390" y="5241369"/>
            <a:ext cx="297656" cy="185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504390" y="5479018"/>
            <a:ext cx="4953953" cy="1524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7" name="Text 24"/>
          <p:cNvSpPr/>
          <p:nvPr/>
        </p:nvSpPr>
        <p:spPr>
          <a:xfrm>
            <a:off x="7504390" y="5583912"/>
            <a:ext cx="1867853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Adversarial Retraining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504390" y="5914073"/>
            <a:ext cx="4953953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Retrain models on poisoned matrices to build structural resistance to clone swarm injection attacks.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7504390" y="6517600"/>
            <a:ext cx="297656" cy="185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504390" y="6755249"/>
            <a:ext cx="4953953" cy="1524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1" name="Text 28"/>
          <p:cNvSpPr/>
          <p:nvPr/>
        </p:nvSpPr>
        <p:spPr>
          <a:xfrm>
            <a:off x="7504390" y="6860143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Explainability Layer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7504390" y="7190303"/>
            <a:ext cx="4953953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 the surrogate explainability layer to produce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user-facing confidence scores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every recommendation.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1556</Words>
  <Application>Microsoft Office PowerPoint</Application>
  <PresentationFormat>Custom</PresentationFormat>
  <Paragraphs>142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Roboto</vt:lpstr>
      <vt:lpstr>Raleway Light</vt:lpstr>
      <vt:lpstr>Raleway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Santhosh J</cp:lastModifiedBy>
  <cp:revision>1</cp:revision>
  <dcterms:created xsi:type="dcterms:W3CDTF">2026-04-19T08:16:09Z</dcterms:created>
  <dcterms:modified xsi:type="dcterms:W3CDTF">2026-04-19T08:39:36Z</dcterms:modified>
</cp:coreProperties>
</file>